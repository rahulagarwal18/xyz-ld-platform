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5400" b="1">
                <a:solidFill>
                  <a:srgbClr val="FFFFFF"/>
                </a:solidFill>
                <a:latin typeface="Arial"/>
              </a:defRPr>
            </a:pPr>
            <a:r>
              <a:t>xyz TLCE LMS Portal</a:t>
            </a:r>
          </a:p>
          <a:p>
            <a:pPr>
              <a:spcAft>
                <a:spcPts val="2800"/>
              </a:spcAft>
              <a:defRPr sz="2200">
                <a:solidFill>
                  <a:srgbClr val="009CDE"/>
                </a:solidFill>
                <a:latin typeface="Arial"/>
              </a:defRPr>
            </a:pPr>
            <a:r>
              <a:t>Next-Generation Training, Learning, Conference &amp; Engagement Platform</a:t>
            </a:r>
          </a:p>
          <a:p>
            <a:pPr>
              <a:defRPr sz="1400">
                <a:solidFill>
                  <a:srgbClr val="C8C8C8"/>
                </a:solidFill>
                <a:latin typeface="Arial"/>
              </a:defRPr>
            </a:pPr>
            <a:r>
              <a:t>Comprehensive Feature Overview, Technology Stack &amp; Implementation details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Executive Summary &amp; Brand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xyz Learning &amp; Development | TLCE Platform Overview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205B"/>
                </a:solidFill>
              </a:defRPr>
            </a:pPr>
            <a:r>
              <a:t>Platform Objectives</a:t>
            </a:r>
          </a:p>
          <a:p>
            <a:pPr>
              <a:spcBef>
                <a:spcPts val="800"/>
              </a:spcBef>
              <a:defRPr b="1" sz="1400">
                <a:solidFill>
                  <a:srgbClr val="333333"/>
                </a:solidFill>
              </a:defRPr>
            </a:pPr>
            <a:r>
              <a:t>• Modernized LMS: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Designed specifically for the xyz L&amp;D team to coordinate global employee learning tracks.</a:t>
            </a:r>
          </a:p>
          <a:p>
            <a:pPr>
              <a:spcBef>
                <a:spcPts val="800"/>
              </a:spcBef>
              <a:defRPr b="1" sz="1400">
                <a:solidFill>
                  <a:srgbClr val="333333"/>
                </a:solidFill>
              </a:defRPr>
            </a:pPr>
            <a:r>
              <a:t>• Interactive Engagement: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Combines registration mechanics, calendar scheduling, automated email dispatches, and built-in assessment metrics.</a:t>
            </a:r>
          </a:p>
          <a:p>
            <a:pPr>
              <a:spcBef>
                <a:spcPts val="800"/>
              </a:spcBef>
              <a:defRPr b="1" sz="1400">
                <a:solidFill>
                  <a:srgbClr val="333333"/>
                </a:solidFill>
              </a:defRPr>
            </a:pPr>
            <a:r>
              <a:t>• Clean Corporate UI: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 Features high-contrast layouts, sleek typography, card grid views, and a white dashboard background for optimal readability.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205B"/>
                </a:solidFill>
              </a:defRPr>
            </a:pPr>
            <a:r>
              <a:t>Corporate Color Palette</a:t>
            </a:r>
          </a:p>
          <a:p>
            <a:pPr>
              <a:spcBef>
                <a:spcPts val="800"/>
              </a:spcBef>
              <a:defRPr b="1" sz="1500">
                <a:solidFill>
                  <a:srgbClr val="00205B"/>
                </a:solidFill>
              </a:defRPr>
            </a:pPr>
            <a:r>
              <a:t>■ xyz Navy (#003087)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Primary color used for headers, primary action buttons, and active tabs.</a:t>
            </a:r>
          </a:p>
          <a:p>
            <a:pPr>
              <a:spcBef>
                <a:spcPts val="800"/>
              </a:spcBef>
              <a:defRPr b="1" sz="1500">
                <a:solidFill>
                  <a:srgbClr val="009CDE"/>
                </a:solidFill>
              </a:defRPr>
            </a:pPr>
            <a:r>
              <a:t>■ Bright Blue Accent (#009CDE)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Used for highlighted badges, input borders on focus, progress bars, and hyperlinks.</a:t>
            </a:r>
          </a:p>
          <a:p>
            <a:pPr>
              <a:spcBef>
                <a:spcPts val="800"/>
              </a:spcBef>
              <a:defRPr b="1" sz="1500">
                <a:solidFill>
                  <a:srgbClr val="CC0000"/>
                </a:solidFill>
              </a:defRPr>
            </a:pPr>
            <a:r>
              <a:t>■ Crimson Red (#CC0000)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Used for alert flags, full-capacity waitlists, and failure notifications.</a:t>
            </a:r>
          </a:p>
          <a:p>
            <a:pPr>
              <a:spcBef>
                <a:spcPts val="800"/>
              </a:spcBef>
              <a:defRPr b="1" sz="1500">
                <a:solidFill>
                  <a:srgbClr val="333333"/>
                </a:solidFill>
              </a:defRPr>
            </a:pPr>
            <a:r>
              <a:t>■ Neutral Off-White (#F8FAFC)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Standard backdrop contrast for input elements, chatbot widgets, and tables.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Interactive Program Catalog &amp;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xyz Learning &amp; Development | TLCE Platform Overview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205B"/>
                </a:solidFill>
              </a:defRPr>
            </a:pPr>
            <a:r>
              <a:t>1. Immersive Banner Carousel</a:t>
            </a:r>
          </a:p>
          <a:p>
            <a:pPr>
              <a:spcAft>
                <a:spcPts val="1600"/>
              </a:spcAft>
              <a:defRPr sz="1300">
                <a:solidFill>
                  <a:srgbClr val="333333"/>
                </a:solidFill>
              </a:defRPr>
            </a:pPr>
            <a:r>
              <a:t>A full-width 420px header slider highlighting key upcoming programs. Supports auto-play sliding, manual next/previous navigation buttons, seat counts, and instant enrollment triggers.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00205B"/>
                </a:solidFill>
              </a:defRPr>
            </a:pPr>
            <a:r>
              <a:t>2. Smart Program Roster Grids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Displays all upcoming events. Individual cards show program categories, target audience labels, meal badges, assessment indicators, and seat progress bars that transition from green (open) to red (full).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205B"/>
                </a:solidFill>
              </a:defRPr>
            </a:pPr>
            <a:r>
              <a:t>3. 12-Month Yearly Calendar Overview</a:t>
            </a:r>
          </a:p>
          <a:p>
            <a:pPr>
              <a:spcAft>
                <a:spcPts val="1600"/>
              </a:spcAft>
              <a:defRPr sz="1300">
                <a:solidFill>
                  <a:srgbClr val="333333"/>
                </a:solidFill>
              </a:defRPr>
            </a:pPr>
            <a:r>
              <a:t>Features a clean grid view displaying all 12 events planned for the year (one for each month). Each month card displays event badges, seat availability stats, and progress metrics.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00205B"/>
                </a:solidFill>
              </a:defRPr>
            </a:pPr>
            <a:r>
              <a:t>4. Monthly Highlights Display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Every month in the calendar highlights key focus metrics, and offers summaries of key objectives. This keeps participants informed of L&amp;D strategic goals beforehand.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Registration, Logistics &amp; Waitlists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xyz Learning &amp; Development | TLCE Platform Overview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205B"/>
                </a:solidFill>
              </a:defRPr>
            </a:pPr>
            <a:r>
              <a:t>Simplified Meal Preferences</a:t>
            </a:r>
          </a:p>
          <a:p>
            <a:pPr>
              <a:spcAft>
                <a:spcPts val="1800"/>
              </a:spcAft>
              <a:defRPr sz="1300">
                <a:solidFill>
                  <a:srgbClr val="333333"/>
                </a:solidFill>
              </a:defRPr>
            </a:pPr>
            <a:r>
              <a:t>To minimize organizational overhead, food options are restricted to Veg and Non-Veg choices. The choice is only visible on events where meals are provided, keeping registration forms uncluttered.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00205B"/>
                </a:solidFill>
              </a:defRPr>
            </a:pPr>
            <a:r>
              <a:t>Over-Capacity Waitlisting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If an event hits 100% occupancy (e.g. May Leadership Program at 60/60 capacity), the 'Register' button turns to 'Join Waitlist'. Users are added to a waiting queue and notified automatically if seats open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205B"/>
                </a:solidFill>
              </a:defRPr>
            </a:pPr>
            <a:r>
              <a:t>Corporate Shuttle booking System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</a:defRPr>
            </a:pPr>
            <a:r>
              <a:t>A clean toggle component allows employees to reserve a seat on corporate shuttle cabs. This component was designed to prevent double-click input bugs and improve clarity.</a:t>
            </a:r>
          </a:p>
          <a:p>
            <a:pPr>
              <a:spcBef>
                <a:spcPts val="600"/>
              </a:spcBef>
              <a:defRPr b="1" sz="1400">
                <a:solidFill>
                  <a:srgbClr val="333333"/>
                </a:solidFill>
              </a:defRPr>
            </a:pPr>
            <a:r>
              <a:t>• Location &amp; Slot Dropdowns: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Enables location selection (e.g. City Tech Park, Tower A Plaza, North Metro Hub) and timed time batches (08:30 AM, 09:15 AM, etc.).</a:t>
            </a:r>
          </a:p>
          <a:p>
            <a:pPr>
              <a:spcBef>
                <a:spcPts val="600"/>
              </a:spcBef>
              <a:defRPr b="1" sz="1400">
                <a:solidFill>
                  <a:srgbClr val="333333"/>
                </a:solidFill>
              </a:defRPr>
            </a:pPr>
            <a:r>
              <a:t>• Dynamic Confirmation Summary: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Generates a real-time summary card matching the selected cab choices to avoid input errors before submitting.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Automated Corporate Email Dispatcher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xyz Learning &amp; Development | TLCE Platform Overview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205B"/>
                </a:solidFill>
              </a:defRPr>
            </a:pPr>
            <a:r>
              <a:t>Multi-Channel Notification Triggers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The platform simulates a live corporate mail server, delivering automated communications directly to the simulated Email Logs view and external mailboxes when triggers occur.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C0000"/>
                </a:solidFill>
              </a:defRPr>
            </a:pPr>
            <a:r>
              <a:t>1. Non-Attendance Alerts</a:t>
            </a:r>
          </a:p>
          <a:p>
            <a:pPr>
              <a:spcBef>
                <a:spcPts val="400"/>
              </a:spcBef>
              <a:defRPr b="1" sz="1300">
                <a:solidFill>
                  <a:srgbClr val="333333"/>
                </a:solidFill>
              </a:defRPr>
            </a:pPr>
            <a:r>
              <a:t>• Double-Delivery: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Dispatches notification emails to both the absent participant and their direct manager simultaneously.</a:t>
            </a:r>
          </a:p>
          <a:p>
            <a:pPr>
              <a:spcBef>
                <a:spcPts val="400"/>
              </a:spcBef>
              <a:defRPr b="1" sz="1300">
                <a:solidFill>
                  <a:srgbClr val="333333"/>
                </a:solidFill>
              </a:defRPr>
            </a:pPr>
            <a:r>
              <a:t>• Manager Syncing: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Pulled automatically from the department manager directory (e.g. Engineering -&gt; Vikram Patel, Product -&gt; Shreya Nair).</a:t>
            </a:r>
          </a:p>
          <a:p>
            <a:pPr>
              <a:spcBef>
                <a:spcPts val="400"/>
              </a:spcBef>
              <a:defRPr b="1" sz="1300">
                <a:solidFill>
                  <a:srgbClr val="333333"/>
                </a:solidFill>
              </a:defRPr>
            </a:pPr>
            <a:r>
              <a:t>• Action Oriented: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Outlines reasons for absence and provides steps to schedule catch-up modules.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205B"/>
                </a:solidFill>
              </a:defRPr>
            </a:pPr>
            <a:r>
              <a:t>2. Scheduled Program Notifications</a:t>
            </a:r>
          </a:p>
          <a:p>
            <a:pPr>
              <a:spcBef>
                <a:spcPts val="400"/>
              </a:spcBef>
              <a:defRPr b="1" sz="1300">
                <a:solidFill>
                  <a:srgbClr val="333333"/>
                </a:solidFill>
              </a:defRPr>
            </a:pPr>
            <a:r>
              <a:t>• 2 Days Before: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Sent out to participants to confirm logistics details (shuttle timings, venue location).</a:t>
            </a:r>
          </a:p>
          <a:p>
            <a:pPr>
              <a:spcBef>
                <a:spcPts val="400"/>
              </a:spcBef>
              <a:defRPr b="1" sz="1300">
                <a:solidFill>
                  <a:srgbClr val="333333"/>
                </a:solidFill>
              </a:defRPr>
            </a:pPr>
            <a:r>
              <a:t>• 1 Day Before: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High priority reminder to complete any pending pre-assessment steps.</a:t>
            </a:r>
          </a:p>
          <a:p>
            <a:pPr>
              <a:spcBef>
                <a:spcPts val="400"/>
              </a:spcBef>
              <a:defRPr b="1" sz="1300">
                <a:solidFill>
                  <a:srgbClr val="333333"/>
                </a:solidFill>
              </a:defRPr>
            </a:pPr>
            <a:r>
              <a:t>• 6 AM Day-Of: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Final wake-up reminder containing pickup schedules and session link credentials.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Assessment Suite &amp; Anti-Cheat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xyz Learning &amp; Development | TLCE Platform Overview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205B"/>
                </a:solidFill>
              </a:defRPr>
            </a:pPr>
            <a:r>
              <a:t>Integrated Pre/Post Assessment</a:t>
            </a:r>
          </a:p>
          <a:p>
            <a:pPr>
              <a:spcAft>
                <a:spcPts val="1600"/>
              </a:spcAft>
              <a:defRPr sz="1300">
                <a:solidFill>
                  <a:srgbClr val="333333"/>
                </a:solidFill>
              </a:defRPr>
            </a:pPr>
            <a:r>
              <a:t>Supports structured Multiple Choice Questions (MCQ) and direct One-Word short answer fields. Questions are loaded automatically based on the program category to ensure relevance.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00205B"/>
                </a:solidFill>
              </a:defRPr>
            </a:pPr>
            <a:r>
              <a:t>Copy-Paste Security Blockers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Blocks standard keyboard actions (Ctrl+C, Ctrl+V, right-click, cut/copy commands, and text selection drag). Participants cannot copy questions to paste into search engines or generative tools.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CC0000"/>
                </a:solidFill>
              </a:defRPr>
            </a:pPr>
            <a:r>
              <a:t>Mandatory Fullscreen &amp; Violation Monitor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</a:defRPr>
            </a:pPr>
            <a:r>
              <a:t>The assessment launches in mandatory fullscreen mode. The browser event listener monitors window focus state to detect cheat behaviors.</a:t>
            </a:r>
          </a:p>
          <a:p>
            <a:pPr>
              <a:spcBef>
                <a:spcPts val="400"/>
              </a:spcBef>
              <a:defRPr b="1" sz="1300">
                <a:solidFill>
                  <a:srgbClr val="333333"/>
                </a:solidFill>
              </a:defRPr>
            </a:pPr>
            <a:r>
              <a:t>• Strike System: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Exiting fullscreen triggers visual warning banners and counts as a strike.</a:t>
            </a:r>
          </a:p>
          <a:p>
            <a:pPr>
              <a:spcBef>
                <a:spcPts val="400"/>
              </a:spcBef>
              <a:defRPr b="1" sz="1300">
                <a:solidFill>
                  <a:srgbClr val="333333"/>
                </a:solidFill>
              </a:defRPr>
            </a:pPr>
            <a:r>
              <a:t>• 3 Strikes Fail: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If a user exits fullscreen 3 times, they are automatically disqualified. The test state is set to 'Failed (Cheating)' immediately.</a:t>
            </a:r>
          </a:p>
          <a:p>
            <a:pPr>
              <a:spcBef>
                <a:spcPts val="400"/>
              </a:spcBef>
              <a:defRPr b="1" sz="1300">
                <a:solidFill>
                  <a:srgbClr val="333333"/>
                </a:solidFill>
              </a:defRPr>
            </a:pPr>
            <a:r>
              <a:t>• Admin Escalation: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Dispatches a high-priority alert email to the L&amp;D Admin team detailing the participant's violation details.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Feedback Engine &amp; L&amp;D AI Chatbot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xyz Learning &amp; Development | TLCE Platform Overview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205B"/>
                </a:solidFill>
              </a:defRPr>
            </a:pPr>
            <a:r>
              <a:t>Feedback Star-Rating System</a:t>
            </a:r>
          </a:p>
          <a:p>
            <a:pPr>
              <a:spcAft>
                <a:spcPts val="1400"/>
              </a:spcAft>
              <a:defRPr sz="1300">
                <a:solidFill>
                  <a:srgbClr val="333333"/>
                </a:solidFill>
              </a:defRPr>
            </a:pPr>
            <a:r>
              <a:t>A detailed feedback modal becomes available to registered users once they attend a program. Features a 5-star metric system evaluating overall experience, speaker quality, content relevance, and logistics.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 b="1">
                <a:solidFill>
                  <a:srgbClr val="00205B"/>
                </a:solidFill>
              </a:defRPr>
            </a:pPr>
            <a:r>
              <a:t>Response Log Dispatches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Upon submission, feedback data is recorded, and an automated log is dispatched to the Admin Inbox Drawer. Admins can view individual participant scores, written critiques, and review overall feedback stats.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205B"/>
                </a:solidFill>
              </a:defRPr>
            </a:pPr>
            <a:r>
              <a:t>Compact Pop-Up AI Chatbot Assistant</a:t>
            </a:r>
          </a:p>
          <a:p>
            <a:pPr>
              <a:spcAft>
                <a:spcPts val="1200"/>
              </a:spcAft>
              <a:defRPr sz="1300">
                <a:solidFill>
                  <a:srgbClr val="333333"/>
                </a:solidFill>
              </a:defRPr>
            </a:pPr>
            <a:r>
              <a:t>A floating bot widget positioned in the bottom-right corner. Opens in a compact PiP (Picture-in-Picture) popup card to avoid blocking page navigation.</a:t>
            </a:r>
          </a:p>
          <a:p>
            <a:pPr>
              <a:spcBef>
                <a:spcPts val="400"/>
              </a:spcBef>
              <a:defRPr b="1" sz="1300">
                <a:solidFill>
                  <a:srgbClr val="333333"/>
                </a:solidFill>
              </a:defRPr>
            </a:pPr>
            <a:r>
              <a:t>• Greeting: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Welcomes the user with a simple 'Hello [Name] 👋 How may I help you today?'</a:t>
            </a:r>
          </a:p>
          <a:p>
            <a:pPr>
              <a:spcBef>
                <a:spcPts val="400"/>
              </a:spcBef>
              <a:defRPr b="1" sz="1300">
                <a:solidFill>
                  <a:srgbClr val="333333"/>
                </a:solidFill>
              </a:defRPr>
            </a:pPr>
            <a:r>
              <a:t>• FAQ Chips: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Features 6 quick-access clickable chips ('Which programs are open?', 'Cab options?', etc.) to query without typing.</a:t>
            </a:r>
          </a:p>
          <a:p>
            <a:pPr>
              <a:spcBef>
                <a:spcPts val="400"/>
              </a:spcBef>
              <a:defRPr b="1" sz="1300">
                <a:solidFill>
                  <a:srgbClr val="333333"/>
                </a:solidFill>
              </a:defRPr>
            </a:pPr>
            <a:r>
              <a:t>• Secure Engine: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Integrated with Groq Llama 3.3 for quick replies, with no internal model names exposed to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Total Learning Hours &amp; Analytics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xyz Learning &amp; Development | TLCE Platform Overview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00205B"/>
                </a:solidFill>
              </a:defRPr>
            </a:pPr>
            <a:r>
              <a:t>Headcount Metrics &amp; Learning Hours Calculation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The Analytics Console calculates aggregate educational metrics for L&amp;D. Total Learning Hours are tracked as: Duration of Program (Hours) × Registered Participants.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56032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22860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Program Name (Month)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Duration (Hours)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Registered Attendees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Learning Hours Produced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Strategic Thinking &amp; Business Acumen (Jan)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 hours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20 participants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80 hours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Generative AI for Enterprise Workflows (Apr)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32 participants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128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Leading at xyz (May)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 hours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60 participants (FULL)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180 hours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Design Systems &amp; Enterprise UX (Nov)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22 participants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132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Technology Stack &amp;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xyz Learning &amp; Development | TLCE Platform Overview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205B"/>
                </a:solidFill>
              </a:defRPr>
            </a:pPr>
            <a:r>
              <a:t>1. Technology Stack</a:t>
            </a:r>
          </a:p>
          <a:p>
            <a:pPr>
              <a:spcBef>
                <a:spcPts val="600"/>
              </a:spcBef>
              <a:defRPr b="1" sz="1300">
                <a:solidFill>
                  <a:srgbClr val="333333"/>
                </a:solidFill>
              </a:defRPr>
            </a:pPr>
            <a:r>
              <a:t>• Vite + React: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Ultra-fast UI hot-reloads and responsive state components.</a:t>
            </a:r>
          </a:p>
          <a:p>
            <a:pPr>
              <a:spcBef>
                <a:spcPts val="600"/>
              </a:spcBef>
              <a:defRPr b="1" sz="1300">
                <a:solidFill>
                  <a:srgbClr val="333333"/>
                </a:solidFill>
              </a:defRPr>
            </a:pPr>
            <a:r>
              <a:t>• Lucide Icons: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Modern, standardized typography vectors used throughout.</a:t>
            </a:r>
          </a:p>
          <a:p>
            <a:pPr>
              <a:spcBef>
                <a:spcPts val="600"/>
              </a:spcBef>
              <a:defRPr b="1" sz="1300">
                <a:solidFill>
                  <a:srgbClr val="333333"/>
                </a:solidFill>
              </a:defRPr>
            </a:pPr>
            <a:r>
              <a:t>• Pure Inline CSS &amp; Variables: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Strict color mappings utilizing the brand navy (#003087) and blue (#009CDE) variables without CSS stylesheet bloat.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205B"/>
                </a:solidFill>
              </a:defRPr>
            </a:pPr>
            <a:r>
              <a:t>2. State &amp; Engine Architecture</a:t>
            </a:r>
          </a:p>
          <a:p>
            <a:pPr>
              <a:spcBef>
                <a:spcPts val="600"/>
              </a:spcBef>
              <a:defRPr b="1" sz="1300">
                <a:solidFill>
                  <a:srgbClr val="333333"/>
                </a:solidFill>
              </a:defRPr>
            </a:pPr>
            <a:r>
              <a:t>• LDContext State Provider: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Centralizes state tracking for all registrations, waitlists, feedbacks, and test results.</a:t>
            </a:r>
          </a:p>
          <a:p>
            <a:pPr>
              <a:spcBef>
                <a:spcPts val="600"/>
              </a:spcBef>
              <a:defRPr b="1" sz="1300">
                <a:solidFill>
                  <a:srgbClr val="333333"/>
                </a:solidFill>
              </a:defRPr>
            </a:pPr>
            <a:r>
              <a:t>• Persistent Local Storage: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Automatically saves configurations locally so test states, check-ins, and logs persist on refreshes.</a:t>
            </a:r>
          </a:p>
          <a:p>
            <a:pPr>
              <a:spcBef>
                <a:spcPts val="600"/>
              </a:spcBef>
              <a:defRPr b="1" sz="1300">
                <a:solidFill>
                  <a:srgbClr val="333333"/>
                </a:solidFill>
              </a:defRPr>
            </a:pPr>
            <a:r>
              <a:t>• Simulated Email Service: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A simulated engine logging email dispatches to a drawer, combined with direct mailto anchors for native clients.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0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009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Conclusion &amp; Deployment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Arial"/>
              </a:defRPr>
            </a:pPr>
            <a:r>
              <a:t>xyz Learning &amp; Development | TLCE Platform Overview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205B"/>
                </a:solidFill>
              </a:defRPr>
            </a:pPr>
            <a:r>
              <a:t>Deployment Success Details</a:t>
            </a:r>
          </a:p>
          <a:p>
            <a:pPr>
              <a:spcBef>
                <a:spcPts val="1000"/>
              </a:spcBef>
              <a:defRPr b="1" sz="1400">
                <a:solidFill>
                  <a:srgbClr val="2E7D32"/>
                </a:solidFill>
              </a:defRPr>
            </a:pPr>
            <a:r>
              <a:t>✓ Git Repository Pushed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Changes staged, committed, and successfully pushed to remote 'origin/main' repository.</a:t>
            </a:r>
          </a:p>
          <a:p>
            <a:pPr>
              <a:spcBef>
                <a:spcPts val="1000"/>
              </a:spcBef>
              <a:defRPr b="1" sz="1400">
                <a:solidFill>
                  <a:srgbClr val="2E7D32"/>
                </a:solidFill>
              </a:defRPr>
            </a:pPr>
            <a:r>
              <a:t>✓ Vercel Auto-Deployment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Production build compiled successfully with 0 warnings/errors and deployed to the Vercel edge network.</a:t>
            </a:r>
          </a:p>
          <a:p>
            <a:pPr>
              <a:spcBef>
                <a:spcPts val="1000"/>
              </a:spcBef>
              <a:defRPr b="1" sz="1400">
                <a:solidFill>
                  <a:srgbClr val="2E7D32"/>
                </a:solidFill>
              </a:defRPr>
            </a:pPr>
            <a:r>
              <a:t>✓ Local Dev Verified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Verified the full signup -&gt; enroll -&gt; cheat triggers -&gt; feedback workflows locally on Port 5173.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00205B"/>
                </a:solidFill>
              </a:defRPr>
            </a:pPr>
            <a:r>
              <a:t>Key Benefits Accomplished</a:t>
            </a:r>
          </a:p>
          <a:p>
            <a:pPr>
              <a:spcBef>
                <a:spcPts val="800"/>
              </a:spcBef>
              <a:defRPr b="1" sz="1300">
                <a:solidFill>
                  <a:srgbClr val="333333"/>
                </a:solidFill>
              </a:defRPr>
            </a:pPr>
            <a:r>
              <a:t>• Enhanced Security: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Copy-paste locks and fullscreen strikes reduce certification cheating.</a:t>
            </a:r>
          </a:p>
          <a:p>
            <a:pPr>
              <a:spcBef>
                <a:spcPts val="800"/>
              </a:spcBef>
              <a:defRPr b="1" sz="1300">
                <a:solidFill>
                  <a:srgbClr val="333333"/>
                </a:solidFill>
              </a:defRPr>
            </a:pPr>
            <a:r>
              <a:t>• Increased Engagement: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Easy enrollment, automated calendar tracking, and real-time reminders keep learners on track.</a:t>
            </a:r>
          </a:p>
          <a:p>
            <a:pPr>
              <a:spcBef>
                <a:spcPts val="800"/>
              </a:spcBef>
              <a:defRPr b="1" sz="1300">
                <a:solidFill>
                  <a:srgbClr val="333333"/>
                </a:solidFill>
              </a:defRPr>
            </a:pPr>
            <a:r>
              <a:t>• Simplified Logistics: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 Veg/Non-Veg meals and custom shuttle bookings reduce coordination workload.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